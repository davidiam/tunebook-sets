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±1 signature step</c:v>
                </c:pt>
              </c:strCache>
            </c:strRef>
          </c:tx>
          <c:spPr>
            <a:solidFill>
              <a:srgbClr val="2C5F2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Bregolas</c:v>
                  </c:pt>
                  <c:pt idx="1">
                    <c:v>Recordings</c:v>
                  </c:pt>
                  <c:pt idx="2">
                    <c:v>Julie Triedman</c:v>
                  </c:pt>
                  <c:pt idx="3">
                    <c:v>JimW</c:v>
                  </c:pt>
                  <c:pt idx="4">
                    <c:v>Kevin Healy</c:v>
                  </c:pt>
                  <c:pt idx="5">
                    <c:v>Whelan emails</c:v>
                  </c:pt>
                  <c:pt idx="6">
                    <c:v>skylos acct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</c:v>
                </c:pt>
                <c:pt idx="1">
                  <c:v>45.4</c:v>
                </c:pt>
                <c:pt idx="2">
                  <c:v>47.7</c:v>
                </c:pt>
                <c:pt idx="3">
                  <c:v>50.7</c:v>
                </c:pt>
                <c:pt idx="4">
                  <c:v>53.7</c:v>
                </c:pt>
                <c:pt idx="5">
                  <c:v>60.6</c:v>
                </c:pt>
                <c:pt idx="6">
                  <c:v>62.7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Modal cousin</c:v>
                </c:pt>
              </c:strCache>
            </c:strRef>
          </c:tx>
          <c:spPr>
            <a:solidFill>
              <a:srgbClr val="97BC6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Bregolas</c:v>
                  </c:pt>
                  <c:pt idx="1">
                    <c:v>Recordings</c:v>
                  </c:pt>
                  <c:pt idx="2">
                    <c:v>Julie Triedman</c:v>
                  </c:pt>
                  <c:pt idx="3">
                    <c:v>JimW</c:v>
                  </c:pt>
                  <c:pt idx="4">
                    <c:v>Kevin Healy</c:v>
                  </c:pt>
                  <c:pt idx="5">
                    <c:v>Whelan emails</c:v>
                  </c:pt>
                  <c:pt idx="6">
                    <c:v>skylos acct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23.3</c:v>
                </c:pt>
                <c:pt idx="1">
                  <c:v>21</c:v>
                </c:pt>
                <c:pt idx="2">
                  <c:v>23.9</c:v>
                </c:pt>
                <c:pt idx="3">
                  <c:v>23.2</c:v>
                </c:pt>
                <c:pt idx="4">
                  <c:v>16.1</c:v>
                </c:pt>
                <c:pt idx="5">
                  <c:v>13.8</c:v>
                </c:pt>
                <c:pt idx="6">
                  <c:v>14.9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Same key</c:v>
                </c:pt>
              </c:strCache>
            </c:strRef>
          </c:tx>
          <c:spPr>
            <a:solidFill>
              <a:srgbClr val="C9B458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Bregolas</c:v>
                  </c:pt>
                  <c:pt idx="1">
                    <c:v>Recordings</c:v>
                  </c:pt>
                  <c:pt idx="2">
                    <c:v>Julie Triedman</c:v>
                  </c:pt>
                  <c:pt idx="3">
                    <c:v>JimW</c:v>
                  </c:pt>
                  <c:pt idx="4">
                    <c:v>Kevin Healy</c:v>
                  </c:pt>
                  <c:pt idx="5">
                    <c:v>Whelan emails</c:v>
                  </c:pt>
                  <c:pt idx="6">
                    <c:v>skylos acct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34.3</c:v>
                </c:pt>
                <c:pt idx="1">
                  <c:v>26.7</c:v>
                </c:pt>
                <c:pt idx="2">
                  <c:v>16.5</c:v>
                </c:pt>
                <c:pt idx="3">
                  <c:v>20.7</c:v>
                </c:pt>
                <c:pt idx="4">
                  <c:v>16</c:v>
                </c:pt>
                <c:pt idx="5">
                  <c:v>18</c:v>
                </c:pt>
                <c:pt idx="6">
                  <c:v>16.7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Jump ≥2</c:v>
                </c:pt>
              </c:strCache>
            </c:strRef>
          </c:tx>
          <c:spPr>
            <a:solidFill>
              <a:srgbClr val="6B7280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Bregolas</c:v>
                  </c:pt>
                  <c:pt idx="1">
                    <c:v>Recordings</c:v>
                  </c:pt>
                  <c:pt idx="2">
                    <c:v>Julie Triedman</c:v>
                  </c:pt>
                  <c:pt idx="3">
                    <c:v>JimW</c:v>
                  </c:pt>
                  <c:pt idx="4">
                    <c:v>Kevin Healy</c:v>
                  </c:pt>
                  <c:pt idx="5">
                    <c:v>Whelan emails</c:v>
                  </c:pt>
                  <c:pt idx="6">
                    <c:v>skylos acct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5.4</c:v>
                </c:pt>
                <c:pt idx="1">
                  <c:v>6.9</c:v>
                </c:pt>
                <c:pt idx="2">
                  <c:v>11.8</c:v>
                </c:pt>
                <c:pt idx="3">
                  <c:v>5.4</c:v>
                </c:pt>
                <c:pt idx="4">
                  <c:v>14.2</c:v>
                </c:pt>
                <c:pt idx="5">
                  <c:v>7.6</c:v>
                </c:pt>
                <c:pt idx="6">
                  <c:v>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Same-key lift</c:v>
                </c:pt>
              </c:strCache>
            </c:strRef>
          </c:tx>
          <c:spPr>
            <a:solidFill>
              <a:srgbClr val="B07E1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7E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606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E8B3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Whelan / skylos</c:v>
                  </c:pt>
                  <c:pt idx="1">
                    <c:v>Kevin Healy</c:v>
                  </c:pt>
                  <c:pt idx="2">
                    <c:v>Julie Triedman</c:v>
                  </c:pt>
                  <c:pt idx="3">
                    <c:v>JimW</c:v>
                  </c:pt>
                  <c:pt idx="4">
                    <c:v>Recordings</c:v>
                  </c:pt>
                  <c:pt idx="5">
                    <c:v>Bregolas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0.93</c:v>
                </c:pt>
                <c:pt idx="2">
                  <c:v>0.96</c:v>
                </c:pt>
                <c:pt idx="3">
                  <c:v>0.99</c:v>
                </c:pt>
                <c:pt idx="4">
                  <c:v>1.22</c:v>
                </c:pt>
                <c:pt idx="5">
                  <c:v>1.67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chance</c:v>
                </c:pt>
              </c:strCache>
            </c:strRef>
          </c:tx>
          <c:spPr>
            <a:solidFill>
              <a:srgbClr val="D9A441"/>
            </a:solidFill>
            <a:ln w="19050" cap="flat">
              <a:solidFill>
                <a:srgbClr val="D9A441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Whelan / skylos</c:v>
                  </c:pt>
                  <c:pt idx="1">
                    <c:v>Kevin Healy</c:v>
                  </c:pt>
                  <c:pt idx="2">
                    <c:v>Julie Triedman</c:v>
                  </c:pt>
                  <c:pt idx="3">
                    <c:v>JimW</c:v>
                  </c:pt>
                  <c:pt idx="4">
                    <c:v>Recordings</c:v>
                  </c:pt>
                  <c:pt idx="5">
                    <c:v>Bregolas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Whelan emails</c:v>
                </c:pt>
              </c:strCache>
            </c:strRef>
          </c:tx>
          <c:spPr>
            <a:solidFill>
              <a:srgbClr val="B07E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 the tonic</c:v>
                  </c:pt>
                  <c:pt idx="1">
                    <c:v>a 5th above</c:v>
                  </c:pt>
                  <c:pt idx="2">
                    <c:v>a step above</c:v>
                  </c:pt>
                  <c:pt idx="3">
                    <c:v>a 4th above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20.5</c:v>
                </c:pt>
                <c:pt idx="2">
                  <c:v>16.9</c:v>
                </c:pt>
                <c:pt idx="3">
                  <c:v>10.7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members (avg)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 the tonic</c:v>
                  </c:pt>
                  <c:pt idx="1">
                    <c:v>a 5th above</c:v>
                  </c:pt>
                  <c:pt idx="2">
                    <c:v>a step above</c:v>
                  </c:pt>
                  <c:pt idx="3">
                    <c:v>a 4th above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21.1</c:v>
                </c:pt>
                <c:pt idx="1">
                  <c:v>19.1</c:v>
                </c:pt>
                <c:pt idx="2">
                  <c:v>14.8</c:v>
                </c:pt>
                <c:pt idx="3">
                  <c:v>11.2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Recordings</c:v>
                </c:pt>
              </c:strCache>
            </c:strRef>
          </c:tx>
          <c:spPr>
            <a:solidFill>
              <a:srgbClr val="3B60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on the tonic</c:v>
                  </c:pt>
                  <c:pt idx="1">
                    <c:v>a 5th above</c:v>
                  </c:pt>
                  <c:pt idx="2">
                    <c:v>a step above</c:v>
                  </c:pt>
                  <c:pt idx="3">
                    <c:v>a 4th above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21.7</c:v>
                </c:pt>
                <c:pt idx="1">
                  <c:v>15</c:v>
                </c:pt>
                <c:pt idx="2">
                  <c:v>11.7</c:v>
                </c:pt>
                <c:pt idx="3">
                  <c:v>16.5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Step Along the Fifths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Irish trad sets move between keys — an empirical comparison of set-building patterns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2E3B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thesession sets (skylos)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97480" y="32461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2E3B28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2,168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88920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Whelan email 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32461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2E3B2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2,068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46320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by 4 other members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12280" y="32461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2E3B28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2,541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03720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transitions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A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· data: thesession.org, John Whelan's set-list emails, irishtune.info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four corpora, one analyzer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5072" cy="1389888"/>
          </a:xfrm>
          <a:prstGeom prst="roundRect">
            <a:avLst>
              <a:gd name="adj" fmla="val 4605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1978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skylos on thesession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161848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619 published sets → 1,012 consecutive-tune pairs. Fetched via the public JSON API; every referenced tune's ABC settings cached.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81728" y="1051560"/>
            <a:ext cx="4005072" cy="1389888"/>
          </a:xfrm>
          <a:prstGeom prst="roundRect">
            <a:avLst>
              <a:gd name="adj" fmla="val 4605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16152"/>
            <a:ext cx="365760" cy="365760"/>
          </a:xfrm>
          <a:prstGeom prst="ellipse">
            <a:avLst/>
          </a:prstGeom>
          <a:solidFill>
            <a:srgbClr val="B07E1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0096" y="11978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Whelan's weekly emails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61848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Mailchimp set lists (2020–2026) parsed into 2,168 sets. Tune names matched to thesession via aliases + fuzzy edit distance: 99.3% of 5,363 mentions.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4005072" cy="1389888"/>
          </a:xfrm>
          <a:prstGeom prst="roundRect">
            <a:avLst>
              <a:gd name="adj" fmla="val 4605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78892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2770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Prolific strangers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" y="319125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sets feed sampled (300 pages / 121k sets) to find 4 unrelated prolific members: JimW, Bregolas, Julie Triedman, Kevin Healy → 3,920 pairs.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2624328"/>
            <a:ext cx="4005072" cy="1389888"/>
          </a:xfrm>
          <a:prstGeom prst="roundRect">
            <a:avLst>
              <a:gd name="adj" fmla="val 4605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788920"/>
            <a:ext cx="365760" cy="365760"/>
          </a:xfrm>
          <a:prstGeom prst="ellipse">
            <a:avLst/>
          </a:prstGeom>
          <a:solidFill>
            <a:srgbClr val="3B606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0096" y="2770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irishtune.info recordings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01184" y="3191256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davidiam's 210 playlist tunes anchored Alan Ng's expert-verified “played after/before” relations from ~28k indexed recordings → 2,541 instances.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measures everywhere: key-signature relation of consecutive tunes, tune type, set shape, and note-level seams computed from ABC transcriptions.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measured at every seam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627632"/>
          </a:xfrm>
          <a:prstGeom prst="roundRect">
            <a:avLst>
              <a:gd name="adj" fmla="val 3933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03504" y="1197864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1704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 signature step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270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tune moves exactly one accidental on the circle of fifths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50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maj (1♯) → D maj (2♯)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51760" cy="1627632"/>
          </a:xfrm>
          <a:prstGeom prst="roundRect">
            <a:avLst>
              <a:gd name="adj" fmla="val 3933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38144" y="1197864"/>
            <a:ext cx="237744" cy="237744"/>
          </a:xfrm>
          <a:prstGeom prst="ellipse">
            <a:avLst/>
          </a:prstGeom>
          <a:solidFill>
            <a:srgbClr val="5A7F3C"/>
          </a:solidFill>
          <a:ln/>
        </p:spPr>
      </p:sp>
      <p:sp>
        <p:nvSpPr>
          <p:cNvPr id="10" name="Text 8"/>
          <p:cNvSpPr/>
          <p:nvPr/>
        </p:nvSpPr>
        <p:spPr>
          <a:xfrm>
            <a:off x="3767328" y="11704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 cousin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5270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signature, different tonic/mode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350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maj → E dor (both 2♯)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1627632"/>
          </a:xfrm>
          <a:prstGeom prst="roundRect">
            <a:avLst>
              <a:gd name="adj" fmla="val 3933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197864"/>
            <a:ext cx="237744" cy="237744"/>
          </a:xfrm>
          <a:prstGeom prst="ellipse">
            <a:avLst/>
          </a:prstGeom>
          <a:solidFill>
            <a:srgbClr val="4B5563"/>
          </a:solidFill>
          <a:ln/>
        </p:spPr>
      </p:sp>
      <p:sp>
        <p:nvSpPr>
          <p:cNvPr id="15" name="Text 13"/>
          <p:cNvSpPr/>
          <p:nvPr/>
        </p:nvSpPr>
        <p:spPr>
          <a:xfrm>
            <a:off x="6601968" y="11704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key / jump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5270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repeat — or a leap of 2+ accidentals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350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maj → D maj · G maj → E maj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51760" cy="1627632"/>
          </a:xfrm>
          <a:prstGeom prst="roundRect">
            <a:avLst>
              <a:gd name="adj" fmla="val 3933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2980944"/>
            <a:ext cx="237744" cy="237744"/>
          </a:xfrm>
          <a:prstGeom prst="ellipse">
            <a:avLst/>
          </a:prstGeom>
          <a:solidFill>
            <a:srgbClr val="B07E1E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29535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Same-key lift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Same-key rate ÷ what random tune order would produce. 1.0 = chance; &lt;1 avoids repeats, &gt;1 favors them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133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7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0.6 = deliberate variety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2834640"/>
            <a:ext cx="2651760" cy="1627632"/>
          </a:xfrm>
          <a:prstGeom prst="roundRect">
            <a:avLst>
              <a:gd name="adj" fmla="val 3933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38144" y="2980944"/>
            <a:ext cx="237744" cy="23774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3767328" y="29535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3-tune set that ends in the key it began (A-B-A)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133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→ D → Em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651760" cy="1627632"/>
          </a:xfrm>
          <a:prstGeom prst="roundRect">
            <a:avLst>
              <a:gd name="adj" fmla="val 3933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72784" y="2980944"/>
            <a:ext cx="237744" cy="237744"/>
          </a:xfrm>
          <a:prstGeom prst="ellipse">
            <a:avLst/>
          </a:prstGeom>
          <a:solidFill>
            <a:srgbClr val="3B6064"/>
          </a:solidFill>
          <a:ln/>
        </p:spPr>
      </p:sp>
      <p:sp>
        <p:nvSpPr>
          <p:cNvPr id="30" name="Text 28"/>
          <p:cNvSpPr/>
          <p:nvPr/>
        </p:nvSpPr>
        <p:spPr>
          <a:xfrm>
            <a:off x="6601968" y="29535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Voice-leading seam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33101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next tune's first note lands: on the previous tune's tonic or final note, a 5th above, a step above…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4133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B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…ends on G → next starts on 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relationships, corpus by corpus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step share. The Whelan-derived corpora (top two) are the most step-heavy; professional recordings keep the signature (same key + cousin = 48%) more than any hobbyist corpus except Bregolas.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restlessness spectrum: same-key lift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60350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675120" y="1188720"/>
            <a:ext cx="2057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chance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1: the arranger avoids repeating a key. Above 1: they favor it.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Whelan sits alone at 0.60 — repeating a key 40% less than chance. Every other corpus is neutral or key-sticky; professional recordings mildly favor staying put (1.22).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universal seam: where the next tune starts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6012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708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transitions (%) where the next tune's first note lands at each interval above the previous tune's tonic. Starting on the previous tonic is #1 in every corpus — the one pattern that survives all three independent data sources. Recordings favor the 4th (subdominant lift) more than session lists do.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Whelan signature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skylos's 619 published sets are transcriptions of John Whelan's weekly Zoom sessions — so both corpora measure one arranger. He is measurably outside the conventional cloud on every dial: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2E3B2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377440" y="1746504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same-key lift — the only corpus below chance; every seam moves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6002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2E3B2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70992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62.7%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37960" y="1746504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 signature steps — highest measured (conventional range: 37–54%)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2E3B2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2724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77440" y="3163824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transitions run between G and D — double the recordings corpus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30175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2E3B2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12724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37960" y="3163824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3+ tune sets arch home to the opening key; ABA rivals ABC (strangers: ABC wins)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 aesthetic: always move, never linger, come home.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holds everywhere — and what we built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69080" cy="3200400"/>
          </a:xfrm>
          <a:prstGeom prst="roundRect">
            <a:avLst>
              <a:gd name="adj" fmla="val 2000"/>
            </a:avLst>
          </a:prstGeom>
          <a:solidFill>
            <a:srgbClr val="EFF4EA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Universals (all 7 corpora)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rhythm throughout a set (~90%)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 signature step is the biggest single category of key change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G/D corridor dominates key changes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tune starts on the previous tonic more than anywhere else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D4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prolific members and professional recordings converge on the same distribution — the conventional style is real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3977640" cy="3200400"/>
          </a:xfrm>
          <a:prstGeom prst="roundRect">
            <a:avLst>
              <a:gd name="adj" fmla="val 2000"/>
            </a:avLst>
          </a:prstGeom>
          <a:solidFill>
            <a:srgbClr val="F3EFE2"/>
          </a:solidFill>
          <a:ln/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7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tunebook-sets 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72768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Whelan recipe: strict ±1 step every seam, arch home, never repeat a key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recipe: steps, cousins &amp; same-key seams weighted by observed frequency; arch optional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A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Voice-leading &amp; step-transition suggestion modes — built on the most universal pattern in the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4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760 unique Whelan sets browsable, loadable, playable with full notation + synth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session players learn sets from recordings, so the corpora share ancestry — which makes Whelan's consistent deviation from all of them the stronger finding.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Irish Trad Sets Move Between Keys</dc:title>
  <dc:subject>PptxGenJS Presentation</dc:subject>
  <dc:creator>skylos + Claude</dc:creator>
  <cp:lastModifiedBy>skylos + Claude</cp:lastModifiedBy>
  <cp:revision>1</cp:revision>
  <dcterms:created xsi:type="dcterms:W3CDTF">2026-07-05T23:58:20Z</dcterms:created>
  <dcterms:modified xsi:type="dcterms:W3CDTF">2026-07-05T23:58:20Z</dcterms:modified>
</cp:coreProperties>
</file>